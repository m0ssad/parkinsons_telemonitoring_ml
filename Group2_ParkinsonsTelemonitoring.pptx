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6" r:id="rId9"/>
    <p:sldId id="267" r:id="rId10"/>
    <p:sldId id="268" r:id="rId11"/>
    <p:sldId id="269" r:id="rId12"/>
    <p:sldId id="261" r:id="rId13"/>
    <p:sldId id="270" r:id="rId14"/>
    <p:sldId id="262" r:id="rId15"/>
    <p:sldId id="272" r:id="rId16"/>
    <p:sldId id="263" r:id="rId17"/>
    <p:sldId id="264" r:id="rId18"/>
    <p:sldId id="265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1504F5-41A1-422B-8210-7698B66D65F7}" v="314" dt="2026-05-08T18:30:34.343"/>
    <p1510:client id="{8C67B4DD-4749-EE6C-C653-9C9DBBEC605E}" v="340" dt="2026-05-08T18:22:43.426"/>
    <p1510:client id="{BB872A4B-A5BE-684B-208C-8995756B0CB8}" v="110" dt="2026-05-08T17:22:53.011"/>
    <p1510:client id="{C839D892-8095-D7EC-2DA4-05310A7F8CB0}" v="2" dt="2026-05-08T19:02:42.021"/>
    <p1510:client id="{C8E1683B-9F05-411C-AB2E-2478C7F4A0C0}" v="540" dt="2026-05-08T18:26:24.6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t>Problem &amp; Dataset</a:t>
            </a:r>
            <a:r>
              <a:rPr lang="en-US"/>
              <a:t> 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/>
              <a:buChar char="-"/>
            </a:pPr>
            <a:r>
              <a:rPr lang="en-US" sz="2000" b="1" u="sng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Dataset</a:t>
            </a:r>
            <a:endParaRPr lang="en-US" sz="200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lvl="1">
              <a:buFont typeface="Courier New"/>
              <a:buChar char="o"/>
            </a:pP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Parkinson's Telemonitoring: 5,875 rows, 22 columns of voice measurements from patients over time.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>
              <a:buFont typeface="Calibri"/>
              <a:buChar char="-"/>
            </a:pPr>
            <a:r>
              <a:rPr lang="en-US" sz="2000" b="1" u="sng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Problem definition: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</a:t>
            </a:r>
          </a:p>
          <a:p>
            <a:pPr lvl="1">
              <a:buFont typeface="Courier New"/>
              <a:buChar char="o"/>
            </a:pP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Predict whether a patient's Parkinson's disease is progressing to a severe stage using baseline and delta voice features.</a:t>
            </a:r>
            <a:endParaRPr lang="en-US" sz="1600">
              <a:latin typeface="Times New Roman"/>
              <a:cs typeface="Times New Roman"/>
            </a:endParaRPr>
          </a:p>
          <a:p>
            <a:pPr>
              <a:buFont typeface="Calibri"/>
              <a:buChar char="-"/>
            </a:pPr>
            <a:r>
              <a:rPr lang="en-US" sz="2000" b="1" u="sng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Target variable: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</a:t>
            </a:r>
          </a:p>
          <a:p>
            <a:pPr lvl="1">
              <a:buFont typeface="Courier New"/>
              <a:buChar char="o"/>
            </a:pPr>
            <a:r>
              <a:rPr lang="en-US" sz="1600" err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severe_and_worse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 </a:t>
            </a:r>
            <a:endParaRPr lang="en-US" sz="1600">
              <a:solidFill>
                <a:srgbClr val="000000"/>
              </a:solidFill>
              <a:latin typeface="Calibri"/>
              <a:ea typeface="+mn-lt"/>
              <a:cs typeface="Calibri"/>
            </a:endParaRPr>
          </a:p>
          <a:p>
            <a:pPr lvl="1">
              <a:buFont typeface="Courier New"/>
              <a:buChar char="o"/>
            </a:pP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binary (0 = healthy/stable, 1 = severe &amp; worsening).</a:t>
            </a:r>
            <a:endParaRPr lang="en-US" sz="1600">
              <a:solidFill>
                <a:srgbClr val="000000"/>
              </a:solidFill>
              <a:latin typeface="Calibri"/>
              <a:ea typeface="+mn-lt"/>
              <a:cs typeface="Calibri"/>
            </a:endParaRPr>
          </a:p>
          <a:p>
            <a:pPr lvl="1">
              <a:buFont typeface="Courier New"/>
              <a:buChar char="o"/>
            </a:pP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Engineered from total UPDRS ≥ 35 AND rate of change &gt; 2.</a:t>
            </a:r>
            <a:endParaRPr lang="en-US" sz="1600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/>
              <a:buChar char="-"/>
            </a:pPr>
            <a:r>
              <a:rPr lang="en-US" sz="2000" b="1" u="sng">
                <a:latin typeface="Times New Roman"/>
                <a:ea typeface="Calibri"/>
                <a:cs typeface="Times New Roman"/>
              </a:rPr>
              <a:t>Class imbalance:</a:t>
            </a:r>
          </a:p>
          <a:p>
            <a:pPr lvl="1">
              <a:buFont typeface="Courier New"/>
              <a:buChar char="o"/>
            </a:pPr>
            <a:r>
              <a:rPr lang="en-US" sz="1600">
                <a:latin typeface="Times New Roman"/>
                <a:ea typeface="Calibri"/>
                <a:cs typeface="Times New Roman"/>
              </a:rPr>
              <a:t>Healthy (0): 3,806 samples vs. Severe (1): 834 samples 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>
              <a:buFont typeface="Calibri"/>
              <a:buChar char="-"/>
            </a:pPr>
            <a:r>
              <a:rPr lang="en-US" sz="2000" b="1" u="sng">
                <a:latin typeface="Times New Roman"/>
                <a:ea typeface="Calibri"/>
                <a:cs typeface="Times New Roman"/>
              </a:rPr>
              <a:t>High dimensionality &amp; multicollinearity:</a:t>
            </a:r>
          </a:p>
          <a:p>
            <a:pPr lvl="1">
              <a:buFont typeface="Courier New"/>
              <a:buChar char="o"/>
            </a:pPr>
            <a:r>
              <a:rPr lang="en-US" sz="1600">
                <a:latin typeface="Times New Roman"/>
                <a:ea typeface="Calibri"/>
                <a:cs typeface="Times New Roman"/>
              </a:rPr>
              <a:t>After delta feature engineering, 35 features remained </a:t>
            </a:r>
          </a:p>
          <a:p>
            <a:pPr lvl="1">
              <a:buFont typeface="Courier New"/>
              <a:buChar char="o"/>
            </a:pPr>
            <a:r>
              <a:rPr lang="en-US" sz="1600">
                <a:latin typeface="Times New Roman"/>
                <a:ea typeface="Calibri"/>
                <a:cs typeface="Times New Roman"/>
              </a:rPr>
              <a:t>Many Jitter/Shimmer variants were highly correlated (r &gt; 0.85), risking redundancy and overfitting.</a:t>
            </a:r>
            <a:endParaRPr lang="en-US" sz="1600">
              <a:ea typeface="Calibri"/>
              <a:cs typeface="Calibri"/>
            </a:endParaRPr>
          </a:p>
          <a:p>
            <a:pPr>
              <a:buFont typeface="Calibri"/>
              <a:buChar char="-"/>
            </a:pPr>
            <a:r>
              <a:rPr lang="en-US" sz="2000" b="1" u="sng">
                <a:latin typeface="Times New Roman"/>
                <a:ea typeface="Calibri"/>
                <a:cs typeface="Times New Roman"/>
              </a:rPr>
              <a:t>Data leakage risk: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</a:p>
          <a:p>
            <a:pPr lvl="1">
              <a:buFont typeface="Courier New"/>
              <a:buChar char="o"/>
            </a:pPr>
            <a:r>
              <a:rPr lang="en-US" sz="1600">
                <a:latin typeface="Times New Roman"/>
                <a:ea typeface="Calibri"/>
                <a:cs typeface="Times New Roman"/>
              </a:rPr>
              <a:t>Multiple temporal records exist per </a:t>
            </a:r>
            <a:r>
              <a:rPr lang="en-US" sz="1600" err="1">
                <a:latin typeface="Times New Roman"/>
                <a:ea typeface="Calibri"/>
                <a:cs typeface="Times New Roman"/>
              </a:rPr>
              <a:t>patient,</a:t>
            </a:r>
            <a:r>
              <a:rPr lang="en-US" sz="1600">
                <a:latin typeface="Times New Roman"/>
                <a:ea typeface="Calibri"/>
                <a:cs typeface="Times New Roman"/>
              </a:rPr>
              <a:t> a random split would let the model memorize individual patients rather than learn generalizable patterns.</a:t>
            </a:r>
          </a:p>
          <a:p>
            <a:pPr>
              <a:buFont typeface="Calibri"/>
              <a:buChar char="-"/>
            </a:pPr>
            <a:r>
              <a:rPr lang="en-US" sz="2000" b="1" u="sng">
                <a:latin typeface="Times New Roman"/>
                <a:ea typeface="Calibri"/>
                <a:cs typeface="Times New Roman"/>
              </a:rPr>
              <a:t>Non-linearity: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</a:p>
          <a:p>
            <a:pPr lvl="1">
              <a:buFont typeface="Courier New"/>
              <a:buChar char="o"/>
            </a:pPr>
            <a:r>
              <a:rPr lang="en-US" sz="1600">
                <a:latin typeface="Times New Roman"/>
                <a:ea typeface="Calibri"/>
                <a:cs typeface="Times New Roman"/>
              </a:rPr>
              <a:t>Biological voice markers interact in non-linear ways, limiting purely linear classifiers like Logistic Regression.</a:t>
            </a:r>
            <a:endParaRPr lang="en-US" sz="1600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Preprocessing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6105"/>
            <a:ext cx="8229600" cy="473960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,Sans-Serif"/>
              <a:buChar char="-"/>
            </a:pPr>
            <a:r>
              <a:rPr lang="en-US" sz="2000" b="1" u="sng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Feature engineering &amp; column filtering:</a:t>
            </a:r>
            <a:endParaRPr lang="en-US" sz="2000" b="1" u="sng">
              <a:latin typeface="Times New Roman"/>
              <a:cs typeface="Times New Roman"/>
            </a:endParaRPr>
          </a:p>
          <a:p>
            <a:pPr lvl="1">
              <a:buFont typeface="Courier New,monospace"/>
              <a:buChar char="o"/>
            </a:pPr>
            <a:r>
              <a:rPr lang="en-US" sz="1400">
                <a:latin typeface="Times New Roman"/>
                <a:ea typeface="Calibri"/>
                <a:cs typeface="Times New Roman"/>
              </a:rPr>
              <a:t>Computed rate-of-change (delta) features from voice metrics. </a:t>
            </a:r>
            <a:endParaRPr lang="en-US" sz="1400" b="1" u="sng">
              <a:latin typeface="Times New Roman"/>
              <a:ea typeface="Calibri"/>
              <a:cs typeface="Times New Roman"/>
            </a:endParaRPr>
          </a:p>
          <a:p>
            <a:pPr lvl="1">
              <a:buFont typeface="Courier New,monospace"/>
              <a:buChar char="o"/>
            </a:pPr>
            <a:r>
              <a:rPr lang="en-US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WHY: removes irrel</a:t>
            </a:r>
            <a:r>
              <a:rPr lang="en-US" sz="1400">
                <a:latin typeface="Times New Roman"/>
                <a:ea typeface="Calibri"/>
                <a:cs typeface="Times New Roman"/>
              </a:rPr>
              <a:t>evant columns</a:t>
            </a:r>
            <a:endParaRPr lang="en-US" sz="14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>
              <a:buFont typeface="Calibri,Sans-Serif"/>
              <a:buChar char="-"/>
            </a:pPr>
            <a:r>
              <a:rPr lang="en-US" sz="2000" b="1" u="sng">
                <a:latin typeface="Times New Roman"/>
                <a:cs typeface="Times New Roman"/>
              </a:rPr>
              <a:t>Multicollinearity removal:</a:t>
            </a:r>
          </a:p>
          <a:p>
            <a:pPr lvl="1">
              <a:buFont typeface="Courier New,monospace"/>
              <a:buChar char="o"/>
            </a:pPr>
            <a:r>
              <a:rPr lang="en-US" sz="1400">
                <a:latin typeface="Times New Roman"/>
                <a:cs typeface="Times New Roman"/>
              </a:rPr>
              <a:t>Applied a correlation threshold of 0.85</a:t>
            </a:r>
            <a:endParaRPr lang="en-US" sz="1400" b="1" u="sng">
              <a:latin typeface="Times New Roman"/>
              <a:cs typeface="Times New Roman"/>
            </a:endParaRPr>
          </a:p>
          <a:p>
            <a:pPr lvl="1">
              <a:buFont typeface="Courier New,monospace"/>
              <a:buChar char="o"/>
            </a:pPr>
            <a:r>
              <a:rPr lang="en-US" sz="1400">
                <a:latin typeface="Times New Roman"/>
                <a:cs typeface="Times New Roman"/>
              </a:rPr>
              <a:t>WHY: Stabilizes Linear Models</a:t>
            </a:r>
          </a:p>
          <a:p>
            <a:pPr>
              <a:buFont typeface="Calibri,Sans-Serif"/>
              <a:buChar char="-"/>
            </a:pPr>
            <a:r>
              <a:rPr lang="en-US" sz="2000" b="1" u="sng">
                <a:latin typeface="Times New Roman"/>
                <a:cs typeface="Times New Roman"/>
              </a:rPr>
              <a:t>Group train/test split (</a:t>
            </a:r>
            <a:r>
              <a:rPr lang="en-US" sz="2000" b="1" u="sng" err="1">
                <a:latin typeface="Times New Roman"/>
                <a:cs typeface="Times New Roman"/>
              </a:rPr>
              <a:t>GroupShuffleSplit</a:t>
            </a:r>
            <a:r>
              <a:rPr lang="en-US" sz="2000" b="1" u="sng">
                <a:latin typeface="Times New Roman"/>
                <a:cs typeface="Times New Roman"/>
              </a:rPr>
              <a:t>):</a:t>
            </a:r>
          </a:p>
          <a:p>
            <a:pPr lvl="1">
              <a:buFont typeface="Courier New,monospace"/>
              <a:buChar char="o"/>
            </a:pPr>
            <a:r>
              <a:rPr lang="en-US" sz="1400">
                <a:latin typeface="Times New Roman"/>
                <a:cs typeface="Times New Roman"/>
              </a:rPr>
              <a:t>Grouped by patient ID so all records of one patient stay in one partition -&gt; 80% train (4,640 rows), 20% test (1,235 rows).</a:t>
            </a:r>
          </a:p>
          <a:p>
            <a:pPr lvl="1">
              <a:buFont typeface="Courier New,monospace"/>
              <a:buChar char="o"/>
            </a:pPr>
            <a:r>
              <a:rPr lang="en-US" sz="1400">
                <a:latin typeface="Times New Roman"/>
                <a:cs typeface="Times New Roman"/>
              </a:rPr>
              <a:t>WHY: Prevents patient data leakage</a:t>
            </a:r>
          </a:p>
          <a:p>
            <a:pPr>
              <a:buFont typeface="Calibri,Sans-Serif"/>
              <a:buChar char="-"/>
            </a:pPr>
            <a:r>
              <a:rPr lang="en-US" sz="2000" b="1" u="sng">
                <a:latin typeface="Times New Roman"/>
                <a:cs typeface="Times New Roman"/>
              </a:rPr>
              <a:t>SMOTE oversampling (train set only):</a:t>
            </a:r>
          </a:p>
          <a:p>
            <a:pPr lvl="1">
              <a:buFont typeface="Courier New,monospace"/>
              <a:buChar char="o"/>
            </a:pPr>
            <a:r>
              <a:rPr lang="en-US" sz="1400">
                <a:latin typeface="Times New Roman"/>
                <a:ea typeface="Calibri"/>
                <a:cs typeface="Times New Roman"/>
              </a:rPr>
              <a:t>Synthesized minority class samples by interpolating between nearest neighbors</a:t>
            </a:r>
          </a:p>
          <a:p>
            <a:pPr lvl="1">
              <a:buFont typeface="Courier New,monospace"/>
              <a:buChar char="o"/>
            </a:pPr>
            <a:r>
              <a:rPr lang="en-US" sz="1400">
                <a:latin typeface="Times New Roman"/>
                <a:ea typeface="Calibri"/>
                <a:cs typeface="Times New Roman"/>
              </a:rPr>
              <a:t>WHY: Avoid Majority class bias</a:t>
            </a:r>
          </a:p>
          <a:p>
            <a:pPr>
              <a:buFont typeface="Calibri,Sans-Serif"/>
              <a:buChar char="-"/>
            </a:pPr>
            <a:r>
              <a:rPr lang="en-US" sz="2000" b="1" u="sng" err="1">
                <a:latin typeface="Times New Roman"/>
                <a:ea typeface="Calibri"/>
                <a:cs typeface="Times New Roman"/>
              </a:rPr>
              <a:t>StandardScaler</a:t>
            </a:r>
            <a:r>
              <a:rPr lang="en-US" sz="2000" b="1" u="sng">
                <a:latin typeface="Times New Roman"/>
                <a:ea typeface="Calibri"/>
                <a:cs typeface="Times New Roman"/>
              </a:rPr>
              <a:t> &amp; Polynomial features:</a:t>
            </a:r>
          </a:p>
          <a:p>
            <a:pPr lvl="1">
              <a:buFont typeface="Courier New,monospace"/>
              <a:buChar char="o"/>
            </a:pPr>
            <a:r>
              <a:rPr lang="en-US" sz="1400">
                <a:latin typeface="Times New Roman"/>
                <a:ea typeface="Calibri"/>
                <a:cs typeface="Times New Roman"/>
              </a:rPr>
              <a:t>Fit scaler on training data only, applied to test data.</a:t>
            </a:r>
          </a:p>
          <a:p>
            <a:pPr lvl="1">
              <a:buFont typeface="Courier New,monospace"/>
              <a:buChar char="o"/>
            </a:pPr>
            <a:r>
              <a:rPr lang="en-US" sz="1400">
                <a:latin typeface="Times New Roman"/>
                <a:ea typeface="Calibri"/>
                <a:cs typeface="Times New Roman"/>
              </a:rPr>
              <a:t>Added degree-2 interaction terms for Logistic Regression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Plot 1: Class Distribution</a:t>
            </a:r>
            <a:endParaRPr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B9DE132-9401-E0CF-2CA2-F9C4FA8E3C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7312" y="1417638"/>
            <a:ext cx="5809488" cy="43571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9777E77-4079-EDBC-12C0-BDB897298AF7}"/>
              </a:ext>
            </a:extLst>
          </p:cNvPr>
          <p:cNvSpPr txBox="1"/>
          <p:nvPr/>
        </p:nvSpPr>
        <p:spPr>
          <a:xfrm>
            <a:off x="457200" y="1417638"/>
            <a:ext cx="24201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Significant Class Imbalance:</a:t>
            </a:r>
            <a:r>
              <a:rPr lang="en-US"/>
              <a:t> Stable/Mild patients (Class 0) heavily outnumber Severe/Worsening patients (Class 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Mitigation Strategy:</a:t>
            </a:r>
            <a:r>
              <a:rPr lang="en-US"/>
              <a:t> Implementation of SMOTE is essential to avoid algorithmic bias toward stable patient outcomes.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53BBB-00AA-79D7-9056-BA161A90F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79CBE-F5AA-8889-ED18-570D9F28A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Plot 2: Baseline Severity vs Target</a:t>
            </a:r>
            <a:endParaRPr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0B3E65-922D-A7A9-8663-C45B04DDB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35873"/>
            <a:ext cx="5577840" cy="39044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CD988E-881C-E555-4920-0A88E427C1CE}"/>
              </a:ext>
            </a:extLst>
          </p:cNvPr>
          <p:cNvSpPr txBox="1"/>
          <p:nvPr/>
        </p:nvSpPr>
        <p:spPr>
          <a:xfrm>
            <a:off x="5992368" y="1535873"/>
            <a:ext cx="27371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Higher Initial Scores:</a:t>
            </a:r>
            <a:r>
              <a:rPr lang="en-US"/>
              <a:t> Patients in the "Severe &amp; Worsening" group show a significantly higher median UPDRS score at their very first visit.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Strong Predictive Power:</a:t>
            </a:r>
            <a:r>
              <a:rPr lang="en-US"/>
              <a:t> A patient's initial disease severity acts as a strong early indicator of future rapid decline.</a:t>
            </a:r>
          </a:p>
        </p:txBody>
      </p:sp>
    </p:spTree>
    <p:extLst>
      <p:ext uri="{BB962C8B-B14F-4D97-AF65-F5344CB8AC3E}">
        <p14:creationId xmlns:p14="http://schemas.microsoft.com/office/powerpoint/2010/main" val="1851095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A2304-58CC-F7B5-1F24-39E18D85B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77CC4-FD74-2721-B72F-DC93A407B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/>
              <a:t>Plot 3: Change in Voice Jitter vs Target 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BFB850-F520-9BBE-B9AD-86743DABD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31" y="1642826"/>
            <a:ext cx="5655781" cy="39590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AFD817-D38E-83D9-18EF-0CDB5DFCB962}"/>
              </a:ext>
            </a:extLst>
          </p:cNvPr>
          <p:cNvSpPr txBox="1"/>
          <p:nvPr/>
        </p:nvSpPr>
        <p:spPr>
          <a:xfrm>
            <a:off x="5925312" y="1631555"/>
            <a:ext cx="276148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Higher Volatility:</a:t>
            </a:r>
            <a:r>
              <a:rPr lang="en-US"/>
              <a:t> Patients in the "Severe &amp; Worsening" group experience much wider, more erratic shifts in their voice jitter.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Extreme Fluctuations:</a:t>
            </a:r>
            <a:r>
              <a:rPr lang="en-US"/>
              <a:t> Large deviations from a patient's baseline (both sudden increases or decreases) are strong indicators of rapid disease progression.</a:t>
            </a:r>
          </a:p>
        </p:txBody>
      </p:sp>
    </p:spTree>
    <p:extLst>
      <p:ext uri="{BB962C8B-B14F-4D97-AF65-F5344CB8AC3E}">
        <p14:creationId xmlns:p14="http://schemas.microsoft.com/office/powerpoint/2010/main" val="100247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4EBBD-44F7-5348-371C-E5D0C21B9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C4D9B-3962-FB98-0A0A-206E4D1F3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/>
              <a:t>Plot 4: Correlation Heatmap (before Filtering)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64895E-68A2-1CF0-D1D6-CD40B515BA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1120" y="1413954"/>
            <a:ext cx="6461759" cy="516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50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7EDCF-DEDD-1659-032E-1E26E7CD6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C3472-32FD-0168-59F8-01282CB39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/>
              <a:t>Plot 5: Correlation Heatmap (after Filtering)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2E96E85-5E25-1212-005D-21A845090B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0483" y="1597501"/>
            <a:ext cx="5983033" cy="498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611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/>
              <a:t>Models Tuning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431" y="1292470"/>
            <a:ext cx="8493369" cy="483369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/>
              <a:t>Classifier 1: Decision Tree</a:t>
            </a:r>
            <a:endParaRPr lang="en-US" sz="2400" b="1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Tuned hyperparameters: max_depth, min_samples_split, min_samples_leaf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Used Grid Search with cross-validation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Focused on preventing overfitting</a:t>
            </a:r>
            <a:endParaRPr lang="en-US"/>
          </a:p>
          <a:p>
            <a:r>
              <a:rPr lang="en-US" b="1"/>
              <a:t>Classifier 2: Random Forest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Tuned: n_estimators, max_depth, min_samples_split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Optimized number of trees and tree depth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Balanced model complexity and performance</a:t>
            </a:r>
            <a:endParaRPr lang="en-US"/>
          </a:p>
          <a:p>
            <a:r>
              <a:rPr lang="en-US" b="1"/>
              <a:t>Classifier 3: K-Nearest Neighbors (KNN)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Tuned: n_neighbors, weights, metric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Tested different distance metrics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Optimized k value for best performance</a:t>
            </a:r>
            <a:endParaRPr lang="en-US"/>
          </a:p>
          <a:p>
            <a:endParaRPr lang="en-US" sz="2400" b="1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1200">
              <a:solidFill>
                <a:srgbClr val="F7F8FC"/>
              </a:solidFill>
              <a:highlight>
                <a:srgbClr val="232326"/>
              </a:highlight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sz="1200">
              <a:solidFill>
                <a:srgbClr val="F7F8FC"/>
              </a:solidFill>
              <a:highlight>
                <a:srgbClr val="232326"/>
              </a:highlight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A6257-BBAE-63FE-872C-D523577C1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b="1">
                <a:ea typeface="Calibri"/>
                <a:cs typeface="Calibri"/>
              </a:rPr>
              <a:t>Models Tuning 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8BB95A-620C-57FF-115C-E562A700D300}"/>
              </a:ext>
            </a:extLst>
          </p:cNvPr>
          <p:cNvSpPr txBox="1"/>
          <p:nvPr/>
        </p:nvSpPr>
        <p:spPr>
          <a:xfrm>
            <a:off x="2286000" y="3429000"/>
            <a:ext cx="4572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i="0">
                <a:solidFill>
                  <a:srgbClr val="F7F8FC"/>
                </a:solidFill>
                <a:latin typeface="system-ui"/>
                <a:ea typeface="system-ui"/>
                <a:cs typeface="system-ui"/>
              </a:rPr>
              <a:t>Performance Metrics:</a:t>
            </a:r>
          </a:p>
          <a:p>
            <a:pPr algn="l"/>
            <a:endParaRPr lang="en-US" b="0" i="0">
              <a:solidFill>
                <a:srgbClr val="F7F8FC"/>
              </a:solidFill>
              <a:latin typeface="system-ui"/>
              <a:ea typeface="system-ui"/>
              <a:cs typeface="system-ui"/>
            </a:endParaRPr>
          </a:p>
          <a:p>
            <a:pPr algn="l"/>
            <a:endParaRPr lang="en-US" b="0" i="0">
              <a:solidFill>
                <a:srgbClr val="F7F8FC"/>
              </a:solidFill>
              <a:latin typeface="system-ui"/>
              <a:ea typeface="system-ui"/>
              <a:cs typeface="system-ui"/>
            </a:endParaRPr>
          </a:p>
          <a:p>
            <a:pPr algn="l"/>
            <a:endParaRPr lang="en-US" b="0" i="0">
              <a:solidFill>
                <a:srgbClr val="F7F8FC"/>
              </a:solidFill>
              <a:latin typeface="system-ui"/>
              <a:ea typeface="system-ui"/>
              <a:cs typeface="system-ui"/>
            </a:endParaRPr>
          </a:p>
          <a:p>
            <a:pPr algn="ctr"/>
            <a:endParaRPr lang="en-US" b="0" i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DA5FE08-FC56-705D-8188-0EBDB8D3E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/>
              <a:t>Classifier 4: Logistic Regression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Tuned: C (regularization), penalty type</a:t>
            </a:r>
          </a:p>
          <a:p>
            <a:r>
              <a:rPr lang="en-US">
                <a:ea typeface="+mn-lt"/>
                <a:cs typeface="+mn-lt"/>
              </a:rPr>
              <a:t>Adjusted regularization strength</a:t>
            </a:r>
          </a:p>
          <a:p>
            <a:r>
              <a:rPr lang="en-US">
                <a:ea typeface="+mn-lt"/>
                <a:cs typeface="+mn-lt"/>
              </a:rPr>
              <a:t>Tested L1 and L2 penalties</a:t>
            </a:r>
          </a:p>
          <a:p>
            <a:pPr marL="0" indent="0">
              <a:buNone/>
            </a:pPr>
            <a:r>
              <a:rPr lang="en-US" b="1"/>
              <a:t>Classifier 5: Support Vector Machine (SVM)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Tuned: C, kernel, gamma</a:t>
            </a:r>
          </a:p>
          <a:p>
            <a:r>
              <a:rPr lang="en-US">
                <a:ea typeface="+mn-lt"/>
                <a:cs typeface="+mn-lt"/>
              </a:rPr>
              <a:t>Tested different kernel functions (RBF, linear)</a:t>
            </a:r>
          </a:p>
          <a:p>
            <a:r>
              <a:rPr lang="en-US">
                <a:ea typeface="+mn-lt"/>
                <a:cs typeface="+mn-lt"/>
              </a:rPr>
              <a:t>Optimized decision boundary</a:t>
            </a: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527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 </a:t>
            </a:r>
            <a:r>
              <a:rPr lang="en-US" b="1"/>
              <a:t>Results</a:t>
            </a:r>
            <a:endParaRPr lang="en-US" b="1">
              <a:ea typeface="Calibri"/>
              <a:cs typeface="Calibri"/>
            </a:endParaRPr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A1ED59D-DE2B-9B9C-38C0-990CEC2900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3462" y="3853290"/>
            <a:ext cx="7077075" cy="25622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B6C1A13-AC53-F8FB-E526-9BD4E1F0A0BB}"/>
              </a:ext>
            </a:extLst>
          </p:cNvPr>
          <p:cNvSpPr txBox="1"/>
          <p:nvPr/>
        </p:nvSpPr>
        <p:spPr>
          <a:xfrm>
            <a:off x="324216" y="1199783"/>
            <a:ext cx="836294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• </a:t>
            </a:r>
            <a:r>
              <a:rPr lang="en-US" b="1">
                <a:ea typeface="+mn-lt"/>
                <a:cs typeface="+mn-lt"/>
              </a:rPr>
              <a:t>Top Performers:</a:t>
            </a:r>
            <a:r>
              <a:rPr lang="en-US">
                <a:ea typeface="+mn-lt"/>
                <a:cs typeface="+mn-lt"/>
              </a:rPr>
              <a:t> SVM (RBF), Decision Tree, and Random Forest all exceeded </a:t>
            </a:r>
            <a:r>
              <a:rPr lang="en-US" b="1">
                <a:ea typeface="+mn-lt"/>
                <a:cs typeface="+mn-lt"/>
              </a:rPr>
              <a:t>94.6% accuracy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 b="1">
                <a:ea typeface="+mn-lt"/>
                <a:cs typeface="+mn-lt"/>
              </a:rPr>
              <a:t>0.968 ROC-AUC</a:t>
            </a:r>
            <a:r>
              <a:rPr lang="en-US">
                <a:ea typeface="+mn-lt"/>
                <a:cs typeface="+mn-lt"/>
              </a:rPr>
              <a:t>.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</a:t>
            </a:r>
            <a:r>
              <a:rPr lang="en-US" b="1">
                <a:ea typeface="+mn-lt"/>
                <a:cs typeface="+mn-lt"/>
              </a:rPr>
              <a:t>Best Overall: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SVM (RBF)</a:t>
            </a:r>
            <a:r>
              <a:rPr lang="en-US">
                <a:ea typeface="+mn-lt"/>
                <a:cs typeface="+mn-lt"/>
              </a:rPr>
              <a:t> achieved the highest accuracy (</a:t>
            </a:r>
            <a:r>
              <a:rPr lang="en-US" b="1">
                <a:ea typeface="+mn-lt"/>
                <a:cs typeface="+mn-lt"/>
              </a:rPr>
              <a:t>94.90%</a:t>
            </a:r>
            <a:r>
              <a:rPr lang="en-US">
                <a:ea typeface="+mn-lt"/>
                <a:cs typeface="+mn-lt"/>
              </a:rPr>
              <a:t>) and F1-Score (</a:t>
            </a:r>
            <a:r>
              <a:rPr lang="en-US" b="1">
                <a:ea typeface="+mn-lt"/>
                <a:cs typeface="+mn-lt"/>
              </a:rPr>
              <a:t>85.62%</a:t>
            </a:r>
            <a:r>
              <a:rPr lang="en-US">
                <a:ea typeface="+mn-lt"/>
                <a:cs typeface="+mn-lt"/>
              </a:rPr>
              <a:t>), closely matched by Decision Tree (AUC: 0.9716).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</a:t>
            </a:r>
            <a:r>
              <a:rPr lang="en-US" b="1">
                <a:ea typeface="+mn-lt"/>
                <a:cs typeface="+mn-lt"/>
              </a:rPr>
              <a:t>Zero False Negatives:</a:t>
            </a:r>
            <a:r>
              <a:rPr lang="en-US">
                <a:ea typeface="+mn-lt"/>
                <a:cs typeface="+mn-lt"/>
              </a:rPr>
              <a:t> All top models recorded </a:t>
            </a:r>
            <a:r>
              <a:rPr lang="en-US" b="1">
                <a:ea typeface="+mn-lt"/>
                <a:cs typeface="+mn-lt"/>
              </a:rPr>
              <a:t>FN = 0</a:t>
            </a:r>
            <a:r>
              <a:rPr lang="en-US">
                <a:ea typeface="+mn-lt"/>
                <a:cs typeface="+mn-lt"/>
              </a:rPr>
              <a:t>, a critical advantage for minimizing missed cases in clinical or high-stakes applications.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</a:t>
            </a:r>
            <a:r>
              <a:rPr lang="en-US" b="1">
                <a:ea typeface="+mn-lt"/>
                <a:cs typeface="+mn-lt"/>
              </a:rPr>
              <a:t>Underperformers:</a:t>
            </a:r>
            <a:r>
              <a:rPr lang="en-US">
                <a:ea typeface="+mn-lt"/>
                <a:cs typeface="+mn-lt"/>
              </a:rPr>
              <a:t> KNN showed moderate performance, while Logistic Regression struggled (</a:t>
            </a:r>
            <a:r>
              <a:rPr lang="en-US" b="1">
                <a:ea typeface="+mn-lt"/>
                <a:cs typeface="+mn-lt"/>
              </a:rPr>
              <a:t>69.72% acc, 0.756 AUC</a:t>
            </a:r>
            <a:r>
              <a:rPr lang="en-US">
                <a:ea typeface="+mn-lt"/>
                <a:cs typeface="+mn-lt"/>
              </a:rPr>
              <a:t>), indicating highly non-linear decision boundaries.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3831D-E812-80CF-6235-F081C89EC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>
                <a:ea typeface="Calibri"/>
                <a:cs typeface="Calibri"/>
              </a:rPr>
              <a:t>Results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8C332-D7E9-B89A-C38B-A82B19C3E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55431"/>
            <a:ext cx="8229600" cy="5170732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b="1">
                <a:ea typeface="+mn-lt"/>
                <a:cs typeface="+mn-lt"/>
              </a:rPr>
              <a:t>Top Performer:</a:t>
            </a:r>
            <a:r>
              <a:rPr lang="en-US">
                <a:ea typeface="+mn-lt"/>
                <a:cs typeface="+mn-lt"/>
              </a:rPr>
              <a:t> The </a:t>
            </a:r>
            <a:r>
              <a:rPr lang="en-US" b="1">
                <a:ea typeface="+mn-lt"/>
                <a:cs typeface="+mn-lt"/>
              </a:rPr>
              <a:t>Support Vector Machine (RBF Kernel)</a:t>
            </a:r>
            <a:r>
              <a:rPr lang="en-US">
                <a:ea typeface="+mn-lt"/>
                <a:cs typeface="+mn-lt"/>
              </a:rPr>
              <a:t> was the best model, achieving the highest clinical priority metric with an 85.62% Macro F1-score and 94.90% overall accuracy.</a:t>
            </a:r>
            <a:endParaRPr lang="en-US">
              <a:ea typeface="Calibri"/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Why it Won (Architecture):</a:t>
            </a:r>
            <a:r>
              <a:rPr lang="en-US">
                <a:ea typeface="+mn-lt"/>
                <a:cs typeface="+mn-lt"/>
              </a:rPr>
              <a:t> The RBF kernel successfully mapped the high-dimensional acoustic features into a space where it could easily capture the complex, non-linear progression boundaries of Parkinson's disease.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Why it Won (Generalization):</a:t>
            </a:r>
            <a:r>
              <a:rPr lang="en-US">
                <a:ea typeface="+mn-lt"/>
                <a:cs typeface="+mn-lt"/>
              </a:rPr>
              <a:t> Unlike tree-based models, the SVM's margin-maximization objective naturally resisted overfitting to the artificial, locally dense synthetic data points generated by SMOTE.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Weakest Performer: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Logistic Regression</a:t>
            </a:r>
            <a:r>
              <a:rPr lang="en-US">
                <a:ea typeface="+mn-lt"/>
                <a:cs typeface="+mn-lt"/>
              </a:rPr>
              <a:t> failed significantly, producing the lowest discriminative power with a Macro F1-score of just 56.15% and 69.72% accuracy.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Why it Failed:</a:t>
            </a:r>
            <a:r>
              <a:rPr lang="en-US">
                <a:ea typeface="+mn-lt"/>
                <a:cs typeface="+mn-lt"/>
              </a:rPr>
              <a:t> As an inherently linear classifier, it lacked the capacity to model the highly non-linear trajectories of voice degradation, and explicitly adding second-degree polynomial features was insufficient to bridge this architectural gap.</a:t>
            </a:r>
            <a:endParaRPr lang="en-US"/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3942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t>Error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,Sans-Serif"/>
              <a:buChar char="-"/>
            </a:pPr>
            <a:r>
              <a:rPr lang="en-US" sz="2000" b="1" u="sng">
                <a:latin typeface="Times New Roman"/>
                <a:cs typeface="Times New Roman"/>
              </a:rPr>
              <a:t>Where the model struggles:</a:t>
            </a:r>
          </a:p>
          <a:p>
            <a:pPr lvl="1">
              <a:buFont typeface="Courier New,monospace"/>
              <a:buChar char="o"/>
            </a:pPr>
            <a:r>
              <a:rPr lang="en-US" sz="1400">
                <a:latin typeface="Times New Roman"/>
                <a:cs typeface="Times New Roman"/>
              </a:rPr>
              <a:t>Boundary cases where total UPDRS is near 35 or rate-of-change hovers around 2</a:t>
            </a:r>
          </a:p>
          <a:p>
            <a:pPr lvl="1">
              <a:buFont typeface="Courier New,monospace"/>
              <a:buChar char="o"/>
            </a:pPr>
            <a:r>
              <a:rPr lang="en-US" sz="1400">
                <a:latin typeface="Times New Roman"/>
                <a:cs typeface="Times New Roman"/>
              </a:rPr>
              <a:t> the model may misclassify patients near the engineered threshold.</a:t>
            </a:r>
          </a:p>
          <a:p>
            <a:pPr>
              <a:buFont typeface="Calibri,Sans-Serif"/>
              <a:buChar char="-"/>
            </a:pPr>
            <a:r>
              <a:rPr lang="en-US" sz="2000" b="1" u="sng">
                <a:latin typeface="Times New Roman"/>
                <a:cs typeface="Times New Roman"/>
              </a:rPr>
              <a:t>Residual class imbalance effect:</a:t>
            </a:r>
          </a:p>
          <a:p>
            <a:pPr lvl="1">
              <a:buFont typeface="Courier New,monospace"/>
              <a:buChar char="o"/>
            </a:pPr>
            <a:r>
              <a:rPr lang="en-US" sz="1400">
                <a:latin typeface="Times New Roman"/>
                <a:cs typeface="Times New Roman"/>
              </a:rPr>
              <a:t>Even after SMOTE, synthetic samples may not perfectly represent true minority-class variation, potentially inflating false negatives on rare severe cases.</a:t>
            </a:r>
            <a:endParaRPr lang="en-US" sz="1400" b="1" u="sng">
              <a:latin typeface="Times New Roman"/>
              <a:cs typeface="Times New Roman"/>
            </a:endParaRPr>
          </a:p>
          <a:p>
            <a:pPr>
              <a:buFont typeface="Calibri,Sans-Serif"/>
              <a:buChar char="-"/>
            </a:pPr>
            <a:r>
              <a:rPr lang="en-US" sz="2000" b="1" u="sng">
                <a:latin typeface="Times New Roman"/>
                <a:cs typeface="Times New Roman"/>
              </a:rPr>
              <a:t>Voice metric noise:</a:t>
            </a:r>
          </a:p>
          <a:p>
            <a:pPr lvl="1">
              <a:buFont typeface="Courier New,monospace"/>
              <a:buChar char="o"/>
            </a:pPr>
            <a:r>
              <a:rPr lang="en-US" sz="1400">
                <a:latin typeface="Times New Roman"/>
                <a:cs typeface="Times New Roman"/>
              </a:rPr>
              <a:t>Jitter and Shimmer readings can vary due to recording conditions unrelated to disease state, introducing noise that confuses boundary decisions.</a:t>
            </a:r>
            <a:endParaRPr lang="en-US" sz="1400" b="1" u="sng">
              <a:latin typeface="Times New Roman"/>
              <a:cs typeface="Times New Roman"/>
            </a:endParaRPr>
          </a:p>
          <a:p>
            <a:pPr>
              <a:buFont typeface="Calibri,Sans-Serif"/>
              <a:buChar char="-"/>
            </a:pPr>
            <a:r>
              <a:rPr lang="en-US" sz="2000" b="1" u="sng">
                <a:latin typeface="Times New Roman"/>
                <a:cs typeface="Times New Roman"/>
              </a:rPr>
              <a:t>Temporal generalization:</a:t>
            </a:r>
            <a:endParaRPr lang="en-US" sz="1200">
              <a:latin typeface="Times New Roman"/>
              <a:cs typeface="Times New Roman"/>
            </a:endParaRPr>
          </a:p>
          <a:p>
            <a:pPr lvl="1">
              <a:buFont typeface="Courier New,monospace"/>
              <a:buChar char="o"/>
            </a:pPr>
            <a:r>
              <a:rPr lang="en-US" sz="1400">
                <a:latin typeface="Times New Roman"/>
                <a:cs typeface="Times New Roman"/>
              </a:rPr>
              <a:t>The model sees patient snapshots, it cannot capture disease trajectory shape across a full visit sequence, limiting its clinical predictive depth.</a:t>
            </a:r>
            <a:br>
              <a:rPr lang="en-US" sz="800">
                <a:latin typeface="Times New Roman"/>
                <a:cs typeface="Times New Roman"/>
              </a:rPr>
            </a:br>
            <a:endParaRPr lang="en-US" sz="800">
              <a:latin typeface="Times New Roman"/>
              <a:cs typeface="Times New Roman"/>
            </a:endParaRPr>
          </a:p>
          <a:p>
            <a:pPr lvl="1" indent="0">
              <a:buNone/>
            </a:pPr>
            <a:endParaRPr lang="en-US" sz="1400">
              <a:latin typeface="Times New Roman"/>
              <a:cs typeface="Times New Roman"/>
            </a:endParaRPr>
          </a:p>
          <a:p>
            <a:pPr marL="0" indent="0">
              <a:buNone/>
            </a:pPr>
            <a:endParaRPr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AI Usage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lang="en-US"/>
          </a:p>
          <a:p>
            <a:r>
              <a:t> How AI was used</a:t>
            </a:r>
            <a:endParaRPr lang="en-US"/>
          </a:p>
          <a:p>
            <a:pPr marL="0" indent="0">
              <a:buNone/>
            </a:pPr>
            <a:endParaRPr/>
          </a:p>
          <a:p>
            <a:r>
              <a:t> One mistake from AI</a:t>
            </a:r>
            <a:endParaRPr lang="en-US"/>
          </a:p>
          <a:p>
            <a:pPr marL="0" indent="0">
              <a:buNone/>
            </a:pPr>
            <a:endParaRPr/>
          </a:p>
          <a:p>
            <a:r>
              <a:t> How you fixed 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Conclusion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lang="en-US"/>
          </a:p>
          <a:p>
            <a:r>
              <a:t>Best model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t>• Limitations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• Future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239E102C6E874F978F3BE8A1747FB4" ma:contentTypeVersion="11" ma:contentTypeDescription="Create a new document." ma:contentTypeScope="" ma:versionID="c10c6877a14eeb2f1e0072a26a1c9b67">
  <xsd:schema xmlns:xsd="http://www.w3.org/2001/XMLSchema" xmlns:xs="http://www.w3.org/2001/XMLSchema" xmlns:p="http://schemas.microsoft.com/office/2006/metadata/properties" xmlns:ns2="74fbb8a6-f196-471c-95d4-33c2078c11a8" xmlns:ns3="3bb45486-0f77-442d-9ae4-8699f4669683" targetNamespace="http://schemas.microsoft.com/office/2006/metadata/properties" ma:root="true" ma:fieldsID="5388551d81069f27418c3fcdb389d377" ns2:_="" ns3:_="">
    <xsd:import namespace="74fbb8a6-f196-471c-95d4-33c2078c11a8"/>
    <xsd:import namespace="3bb45486-0f77-442d-9ae4-8699f46696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fbb8a6-f196-471c-95d4-33c2078c11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236e937-4c13-4f99-a5b8-4cd3be54f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b45486-0f77-442d-9ae4-8699f466968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e429d96-3436-4107-875d-580c9072f24e}" ma:internalName="TaxCatchAll" ma:showField="CatchAllData" ma:web="3bb45486-0f77-442d-9ae4-8699f46696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fbb8a6-f196-471c-95d4-33c2078c11a8">
      <Terms xmlns="http://schemas.microsoft.com/office/infopath/2007/PartnerControls"/>
    </lcf76f155ced4ddcb4097134ff3c332f>
    <TaxCatchAll xmlns="3bb45486-0f77-442d-9ae4-8699f466968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D9346C-5CA9-46CA-8603-632BA90C87C2}">
  <ds:schemaRefs>
    <ds:schemaRef ds:uri="3bb45486-0f77-442d-9ae4-8699f4669683"/>
    <ds:schemaRef ds:uri="74fbb8a6-f196-471c-95d4-33c2078c11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8B9222A-30FD-4432-B4C2-CDA616ACF886}">
  <ds:schemaRefs>
    <ds:schemaRef ds:uri="3bb45486-0f77-442d-9ae4-8699f4669683"/>
    <ds:schemaRef ds:uri="74fbb8a6-f196-471c-95d4-33c2078c11a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EF106AF-D2FD-4DDD-8ED9-08BE7D6A06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Problem &amp; Dataset </vt:lpstr>
      <vt:lpstr>Challenges</vt:lpstr>
      <vt:lpstr>Preprocessing</vt:lpstr>
      <vt:lpstr>Plot 1: Class Distribution</vt:lpstr>
      <vt:lpstr>Plot 2: Baseline Severity vs Target</vt:lpstr>
      <vt:lpstr>Plot 3: Change in Voice Jitter vs Target </vt:lpstr>
      <vt:lpstr>Plot 4: Correlation Heatmap (before Filtering)</vt:lpstr>
      <vt:lpstr>Plot 5: Correlation Heatmap (after Filtering)</vt:lpstr>
      <vt:lpstr>Models Tuning </vt:lpstr>
      <vt:lpstr>Models Tuning </vt:lpstr>
      <vt:lpstr> Results</vt:lpstr>
      <vt:lpstr>Results </vt:lpstr>
      <vt:lpstr>Error Analysis</vt:lpstr>
      <vt:lpstr>AI Usage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6</cp:revision>
  <dcterms:created xsi:type="dcterms:W3CDTF">2013-01-27T09:14:16Z</dcterms:created>
  <dcterms:modified xsi:type="dcterms:W3CDTF">2026-05-08T19:02:51Z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0x01010086239E102C6E874F978F3BE8A1747FB4</vt:lpwstr>
  </property>
</Properties>
</file>